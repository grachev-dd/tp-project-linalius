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Inter"/>
      <p:bold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5" d="100"/>
          <a:sy n="115" d="100"/>
        </p:scale>
        <p:origin x="4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982200" y="457200"/>
            <a:ext cx="1600200" cy="400050"/>
          </a:xfrm>
          <a:prstGeom prst="roundRect">
            <a:avLst>
              <a:gd name="adj" fmla="val 50000"/>
            </a:avLst>
          </a:prstGeom>
          <a:solidFill>
            <a:srgbClr val="1D2537"/>
          </a:solidFill>
          <a:ln w="9525">
            <a:solidFill>
              <a:srgbClr val="2C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43137" y="4470201"/>
            <a:ext cx="9339262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84514"/>
            <a:ext cx="3530649" cy="1716285"/>
          </a:xfrm>
          <a:prstGeom prst="roundRect">
            <a:avLst>
              <a:gd name="adj" fmla="val 7769"/>
            </a:avLst>
          </a:prstGeom>
          <a:solidFill>
            <a:srgbClr val="192033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749" y="4684514"/>
            <a:ext cx="3530649" cy="1716285"/>
          </a:xfrm>
          <a:prstGeom prst="roundRect">
            <a:avLst>
              <a:gd name="adj" fmla="val 7769"/>
            </a:avLst>
          </a:prstGeom>
          <a:solidFill>
            <a:srgbClr val="192033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99" y="4684514"/>
            <a:ext cx="3530649" cy="1716285"/>
          </a:xfrm>
          <a:prstGeom prst="roundRect">
            <a:avLst>
              <a:gd name="adj" fmla="val 7769"/>
            </a:avLst>
          </a:prstGeom>
          <a:solidFill>
            <a:srgbClr val="192033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57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27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2225" y="561975"/>
            <a:ext cx="1809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884539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774" y="4884539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924" y="4884539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4979789"/>
            <a:ext cx="1714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4979789"/>
            <a:ext cx="1905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7174" y="4979789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914400"/>
            <a:ext cx="2409699" cy="551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900" b="1" i="0" u="none" dirty="0" err="1">
                <a:solidFill>
                  <a:srgbClr val="F8FAFC"/>
                </a:solidFill>
                <a:latin typeface="Plus Jakarta Sans"/>
              </a:rPr>
              <a:t>Линал</a:t>
            </a:r>
            <a:r>
              <a:rPr lang="ru-RU" sz="3900" b="1" i="0" u="none" dirty="0">
                <a:solidFill>
                  <a:srgbClr val="F8FAFC"/>
                </a:solidFill>
                <a:latin typeface="Plus Jakarta Sans"/>
              </a:rPr>
              <a:t>и</a:t>
            </a:r>
            <a:r>
              <a:rPr sz="3900" b="1" i="0" u="none" dirty="0" err="1">
                <a:solidFill>
                  <a:srgbClr val="F8FAFC"/>
                </a:solidFill>
                <a:latin typeface="Plus Jakarta Sans"/>
              </a:rPr>
              <a:t>ус</a:t>
            </a:r>
            <a:endParaRPr sz="39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1573410"/>
            <a:ext cx="60364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Inter"/>
              </a:rPr>
              <a:t>Матрицы — быстро, точно, в одно сообщение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8450" y="566737"/>
            <a:ext cx="1209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Inter"/>
              </a:rPr>
              <a:t>@linalius_bot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398764"/>
            <a:ext cx="18990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КОМАНДА ПРОЕКТА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25" y="4572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Plus Jakarta Sans"/>
              </a:rPr>
              <a:t>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547687"/>
            <a:ext cx="2274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ЦИФРОВОЙ ПРОДУКТ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5341739"/>
            <a:ext cx="2934329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М</a:t>
            </a:r>
            <a:r>
              <a:rPr lang="ru-RU" sz="1275" b="1" i="0" u="none" dirty="0" err="1">
                <a:solidFill>
                  <a:srgbClr val="F8FAFC"/>
                </a:solidFill>
                <a:latin typeface="Plus Jakarta Sans"/>
              </a:rPr>
              <a:t>аксим</a:t>
            </a:r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275" b="1" i="0" u="none" dirty="0" err="1">
                <a:solidFill>
                  <a:srgbClr val="F8FAFC"/>
                </a:solidFill>
                <a:latin typeface="Plus Jakarta Sans"/>
              </a:rPr>
              <a:t>Губин</a:t>
            </a:r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, Н</a:t>
            </a:r>
            <a:r>
              <a:rPr lang="ru-RU" sz="1275" b="1" i="0" u="none" dirty="0" err="1">
                <a:solidFill>
                  <a:srgbClr val="F8FAFC"/>
                </a:solidFill>
                <a:latin typeface="Plus Jakarta Sans"/>
              </a:rPr>
              <a:t>икита</a:t>
            </a:r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275" b="1" i="0" u="none" dirty="0" err="1">
                <a:solidFill>
                  <a:srgbClr val="F8FAFC"/>
                </a:solidFill>
                <a:latin typeface="Plus Jakarta Sans"/>
              </a:rPr>
              <a:t>Александров</a:t>
            </a:r>
            <a:endParaRPr sz="1275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9625" y="5598914"/>
            <a:ext cx="39132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МАТЕМАТИЧЕСКОЕ ЯДРО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5827514"/>
            <a:ext cx="3225849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Разработка алгоритмов определителя и перемножения матриц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0774" y="5341739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8FAFC"/>
                </a:solidFill>
                <a:latin typeface="Plus Jakarta Sans"/>
              </a:rPr>
              <a:t>Дмитрий Грачёв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0774" y="5598914"/>
            <a:ext cx="39132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818CF8"/>
                </a:solidFill>
                <a:latin typeface="Inter"/>
              </a:rPr>
              <a:t>АРХИТЕКТУРА И ИНТЕГРАЦИЯ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0774" y="5827514"/>
            <a:ext cx="3225849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Встраивание вычислений в Telegram и сборка бота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1924" y="5341739"/>
            <a:ext cx="3188693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В</a:t>
            </a:r>
            <a:r>
              <a:rPr lang="ru-RU" sz="1275" b="1" i="0" u="none" dirty="0" err="1">
                <a:solidFill>
                  <a:srgbClr val="F8FAFC"/>
                </a:solidFill>
                <a:latin typeface="Plus Jakarta Sans"/>
              </a:rPr>
              <a:t>алерия</a:t>
            </a:r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275" b="1" i="0" u="none" dirty="0" err="1">
                <a:solidFill>
                  <a:srgbClr val="F8FAFC"/>
                </a:solidFill>
                <a:latin typeface="Plus Jakarta Sans"/>
              </a:rPr>
              <a:t>Сыч</a:t>
            </a:r>
            <a:r>
              <a:rPr lang="ru-RU" sz="1275" b="1" i="0" u="none">
                <a:solidFill>
                  <a:srgbClr val="F8FAFC"/>
                </a:solidFill>
                <a:latin typeface="Plus Jakarta Sans"/>
              </a:rPr>
              <a:t>ё</a:t>
            </a:r>
            <a:r>
              <a:rPr sz="1275" b="1" i="0" u="none">
                <a:solidFill>
                  <a:srgbClr val="F8FAFC"/>
                </a:solidFill>
                <a:latin typeface="Plus Jakarta Sans"/>
              </a:rPr>
              <a:t>ва</a:t>
            </a:r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, В</a:t>
            </a:r>
            <a:r>
              <a:rPr lang="ru-RU" sz="1275" b="1" i="0" u="none" dirty="0" err="1">
                <a:solidFill>
                  <a:srgbClr val="F8FAFC"/>
                </a:solidFill>
                <a:latin typeface="Plus Jakarta Sans"/>
              </a:rPr>
              <a:t>иктория</a:t>
            </a:r>
            <a:r>
              <a:rPr sz="127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275" b="1" i="0" u="none" dirty="0" err="1">
                <a:solidFill>
                  <a:srgbClr val="F8FAFC"/>
                </a:solidFill>
                <a:latin typeface="Plus Jakarta Sans"/>
              </a:rPr>
              <a:t>Андросова</a:t>
            </a:r>
            <a:endParaRPr sz="1275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51924" y="5598914"/>
            <a:ext cx="39132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472B6"/>
                </a:solidFill>
                <a:latin typeface="Inter"/>
              </a:rPr>
              <a:t>QA И ПРЕЗЕНТАЦИЯ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1924" y="5827514"/>
            <a:ext cx="3225849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Комплексное тестирование бота и оформление проекта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10100"/>
            <a:ext cx="10972800" cy="781050"/>
          </a:xfrm>
          <a:prstGeom prst="roundRect">
            <a:avLst>
              <a:gd name="adj" fmla="val 1707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52650"/>
            <a:ext cx="35052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152650"/>
            <a:ext cx="35052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152650"/>
            <a:ext cx="35052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610100"/>
            <a:ext cx="38100" cy="781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86325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42887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2428875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2428875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2543175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925" y="254317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725" y="2543175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Проблема и актуальность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350" y="4800600"/>
            <a:ext cx="10134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Inter"/>
              </a:rPr>
              <a:t>Решение: автоматизировать расчетную рутину прямо в мессенджере, гарантируя мгновенный и точный результат.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01942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Арифметические сбои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362325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Ошибки знаков и сложения при росте порядка матриц.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3019425"/>
            <a:ext cx="32004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Колоссальные затраты времени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625" y="3609975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Десятки минут на механический ручной пересчет.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019425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Потеря фокуса на теории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425" y="3362325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Рутина заслоняет понимание методов линейной алгебры.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86025"/>
            <a:ext cx="109728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00475"/>
            <a:ext cx="2628900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0900" y="3800475"/>
            <a:ext cx="2628900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3800475"/>
            <a:ext cx="2628900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53500" y="3800475"/>
            <a:ext cx="2628900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2790825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2924175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Целеполагание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Цели и задачи проекта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8775" y="2724150"/>
            <a:ext cx="97536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Главная цель проекта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8775" y="2952750"/>
            <a:ext cx="9753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Создать доступный инструмент, снижающий количество ошибок и ускоряющий вычисления матриц для студентов.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000500"/>
            <a:ext cx="278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Inte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276725"/>
            <a:ext cx="292536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Базовые операции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533900"/>
            <a:ext cx="2324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Определитель и умножение матриц.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925" y="4000500"/>
            <a:ext cx="278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925" y="4276725"/>
            <a:ext cx="292536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Сложная алгебра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0925" y="4533900"/>
            <a:ext cx="23241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Обратная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матрица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и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решение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ru-RU" sz="1050" dirty="0">
                <a:solidFill>
                  <a:srgbClr val="64748B"/>
                </a:solidFill>
                <a:latin typeface="Inter"/>
              </a:rPr>
              <a:t>матричных уравнений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4000500"/>
            <a:ext cx="278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2225" y="4276725"/>
            <a:ext cx="292536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Понятный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4533900"/>
            <a:ext cx="2324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Удобный ввод данных и ясный вывод.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525" y="4000500"/>
            <a:ext cx="278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525" y="4276725"/>
            <a:ext cx="292536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Надежность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525" y="4533900"/>
            <a:ext cx="2324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Валидация ошибок и тесты на студентах.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68054"/>
            <a:ext cx="2087909" cy="2007691"/>
          </a:xfrm>
          <a:prstGeom prst="roundRect">
            <a:avLst>
              <a:gd name="adj" fmla="val 6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30859" y="2768054"/>
            <a:ext cx="2087909" cy="2007691"/>
          </a:xfrm>
          <a:prstGeom prst="roundRect">
            <a:avLst>
              <a:gd name="adj" fmla="val 6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52119" y="2768054"/>
            <a:ext cx="2087909" cy="2007691"/>
          </a:xfrm>
          <a:prstGeom prst="roundRect">
            <a:avLst>
              <a:gd name="adj" fmla="val 6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73379" y="2768054"/>
            <a:ext cx="2087909" cy="2007691"/>
          </a:xfrm>
          <a:prstGeom prst="roundRect">
            <a:avLst>
              <a:gd name="adj" fmla="val 6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94639" y="2768054"/>
            <a:ext cx="2087909" cy="2007691"/>
          </a:xfrm>
          <a:prstGeom prst="roundRect">
            <a:avLst>
              <a:gd name="adj" fmla="val 6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Процесс разработки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Этапы подготовки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4413795"/>
            <a:ext cx="21574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СТАРТ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1834" y="4413795"/>
            <a:ext cx="21574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ДИЗАЙН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3094" y="4413795"/>
            <a:ext cx="21574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КОД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4354" y="4413795"/>
            <a:ext cx="21574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5614" y="4413795"/>
            <a:ext cx="21574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ФИНИШ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2987129"/>
            <a:ext cx="215744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3396704"/>
            <a:ext cx="226532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Анализ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3701504"/>
            <a:ext cx="182120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Исследование частых ошибок и запросов студентов.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1834" y="2987129"/>
            <a:ext cx="215744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1834" y="3396704"/>
            <a:ext cx="226532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Архитектура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1834" y="3701504"/>
            <a:ext cx="182120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Проектирование диалогов и формата матриц.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3094" y="2987129"/>
            <a:ext cx="215744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3094" y="3396704"/>
            <a:ext cx="226532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Разработка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3094" y="3701504"/>
            <a:ext cx="1821209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Алгоритмы вычислений и Telegram-бот.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4354" y="2987129"/>
            <a:ext cx="215744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354" y="3396704"/>
            <a:ext cx="226532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Тестирование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4354" y="3701504"/>
            <a:ext cx="1821209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Проверка размерностей и обратная связь.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5614" y="2987129"/>
            <a:ext cx="215744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Inte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5614" y="3396704"/>
            <a:ext cx="226532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Защита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5614" y="3701504"/>
            <a:ext cx="1821209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Оформление презентации и финальный релиз.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28725"/>
            <a:ext cx="3530649" cy="5210175"/>
          </a:xfrm>
          <a:prstGeom prst="roundRect">
            <a:avLst>
              <a:gd name="adj" fmla="val 37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02174" y="1281773"/>
            <a:ext cx="3530649" cy="5210175"/>
          </a:xfrm>
          <a:prstGeom prst="roundRect">
            <a:avLst>
              <a:gd name="adj" fmla="val 37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1228725"/>
            <a:ext cx="3530649" cy="5210175"/>
          </a:xfrm>
          <a:prstGeom prst="roundRect">
            <a:avLst>
              <a:gd name="adj" fmla="val 37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857375"/>
            <a:ext cx="3206799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74" y="1857375"/>
            <a:ext cx="3206799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824" y="1857375"/>
            <a:ext cx="3206799" cy="3429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1857375"/>
            <a:ext cx="3206799" cy="3429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3824" y="1857375"/>
            <a:ext cx="3206799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19100"/>
            <a:ext cx="5162252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Демонстрация работы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7800" y="895350"/>
            <a:ext cx="3124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Реальные сценарии взаимодействия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7700"/>
            <a:ext cx="665044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Интерфейс и обработка ошибок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1390650"/>
            <a:ext cx="42089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Профиль бота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1609725"/>
            <a:ext cx="40084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Удобный старт по @linalius_bot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674" y="1390650"/>
            <a:ext cx="109151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2. </a:t>
            </a:r>
            <a:r>
              <a:rPr lang="ru-RU" sz="1200" b="1" i="0" u="none" dirty="0">
                <a:solidFill>
                  <a:srgbClr val="0F172A"/>
                </a:solidFill>
                <a:latin typeface="Plus Jakarta Sans"/>
              </a:rPr>
              <a:t>Работа бота</a:t>
            </a:r>
            <a:endParaRPr sz="12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92674" y="1609725"/>
            <a:ext cx="170238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ru-RU" sz="975" dirty="0">
                <a:solidFill>
                  <a:srgbClr val="64748B"/>
                </a:solidFill>
                <a:latin typeface="Inter"/>
              </a:rPr>
              <a:t>Быстрое выполнение команд</a:t>
            </a:r>
            <a:endParaRPr sz="975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13824" y="1390650"/>
            <a:ext cx="3978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Некорректный ввод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3824" y="1609725"/>
            <a:ext cx="3978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Подсказка и безопасная отмена /cancel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2088" y="1857375"/>
            <a:ext cx="3207385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448175"/>
            <a:ext cx="10972800" cy="533400"/>
          </a:xfrm>
          <a:prstGeom prst="roundRect">
            <a:avLst>
              <a:gd name="adj" fmla="val 214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62225"/>
            <a:ext cx="2600325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562225"/>
            <a:ext cx="2600325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562225"/>
            <a:ext cx="2600325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2562225"/>
            <a:ext cx="2600325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4725" y="4619625"/>
            <a:ext cx="2190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Практический эффект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Результаты и ценность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619625"/>
            <a:ext cx="8298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Inter"/>
              </a:rPr>
              <a:t>Ключевая ценность: освобождение времени студентов для понимания математики.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838450"/>
            <a:ext cx="2559843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563EB"/>
                </a:solidFill>
                <a:latin typeface="Inter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314700"/>
            <a:ext cx="26878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Готовый продукт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19500"/>
            <a:ext cx="21431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Бот выполняет все 4 заявленные операции.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650" y="2838450"/>
            <a:ext cx="2559843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0 ошибок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314700"/>
            <a:ext cx="26878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Точность вычислений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6650" y="3619500"/>
            <a:ext cx="21431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Полное исключение арифметических сбоев.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2838450"/>
            <a:ext cx="2559843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2 сек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3314700"/>
            <a:ext cx="26878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Экономия времени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619500"/>
            <a:ext cx="21431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Мгновенный расчет вместо получаса рутины.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8300" y="2838450"/>
            <a:ext cx="2559843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366F1"/>
                </a:solidFill>
                <a:latin typeface="Inter"/>
              </a:rPr>
              <a:t>Telegram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3314700"/>
            <a:ext cx="26878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Удобный доступ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3619500"/>
            <a:ext cx="21431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Без установки сторонних приложений.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49115"/>
            <a:ext cx="5667375" cy="2645568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43674" y="2811065"/>
            <a:ext cx="5038725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43674" y="3909161"/>
            <a:ext cx="5038725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6344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858690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799" y="310634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4299686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Итоги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Выводы и перспективы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334940"/>
            <a:ext cx="661332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Итог разработки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744515"/>
            <a:ext cx="5133975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«Линалус» превращает рутинные матричные вычисления в быстрый и точный процесс, снижая число ошибок и экономя время студентов. Проект прошёл полный цикл разработки — от идеи до готового продукта.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4699" y="3011090"/>
            <a:ext cx="35504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Plus Jakarta Sans"/>
              </a:rPr>
              <a:t>Пошаговые</a:t>
            </a:r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0F172A"/>
                </a:solidFill>
                <a:latin typeface="Plus Jakarta Sans"/>
              </a:rPr>
              <a:t>решения</a:t>
            </a:r>
            <a:endParaRPr sz="12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24699" y="3230165"/>
            <a:ext cx="3381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Детализация алгоритмов метода Гаусса.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3275" y="4204436"/>
            <a:ext cx="35504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Ранг и комплексные числа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3275" y="4423511"/>
            <a:ext cx="3381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Расширение математического аппарата.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05400" y="4010025"/>
            <a:ext cx="1981200" cy="457200"/>
          </a:xfrm>
          <a:prstGeom prst="roundRect">
            <a:avLst>
              <a:gd name="adj" fmla="val 50000"/>
            </a:avLst>
          </a:prstGeom>
          <a:solidFill>
            <a:srgbClr val="1D2537"/>
          </a:solidFill>
          <a:ln w="9525">
            <a:solidFill>
              <a:srgbClr val="2C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6215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2124075"/>
            <a:ext cx="28575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625" y="4133850"/>
            <a:ext cx="200025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46801" y="2800350"/>
            <a:ext cx="6298248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450" b="1" i="0" u="none">
                <a:solidFill>
                  <a:srgbClr val="F8FAFC"/>
                </a:solidFill>
                <a:latin typeface="Plus Jakarta Sans"/>
              </a:rPr>
              <a:t>Спасибо за внимание!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6823" y="3476625"/>
            <a:ext cx="521835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«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Линал</a:t>
            </a:r>
            <a:r>
              <a:rPr lang="ru-RU" sz="1500" b="0" i="0" u="none" dirty="0">
                <a:solidFill>
                  <a:srgbClr val="94A3B8"/>
                </a:solidFill>
                <a:latin typeface="Inter"/>
              </a:rPr>
              <a:t>и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ус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» —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матрицы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быстро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,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точно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, в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одно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сообщение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56417" y="4733925"/>
            <a:ext cx="467916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ru-RU" sz="1050" dirty="0">
                <a:solidFill>
                  <a:srgbClr val="64748B"/>
                </a:solidFill>
                <a:latin typeface="Inter"/>
              </a:rPr>
              <a:t>Проект выполнили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: М.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Губин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, Н.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Александров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, Д.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Грачёв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, В.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Сыч</a:t>
            </a:r>
            <a:r>
              <a:rPr lang="ru-RU" sz="1050" b="0" i="0" u="none" dirty="0">
                <a:solidFill>
                  <a:srgbClr val="64748B"/>
                </a:solidFill>
                <a:latin typeface="Inter"/>
              </a:rPr>
              <a:t>ё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ва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, В.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Андросова</a:t>
            </a:r>
            <a:endParaRPr sz="1050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53075" y="4138612"/>
            <a:ext cx="1400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@linalius_bot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415</Words>
  <Application>Microsoft Macintosh PowerPoint</Application>
  <PresentationFormat>Широкоэкранный</PresentationFormat>
  <Paragraphs>97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Plus Jakarta Sans</vt:lpstr>
      <vt:lpstr>Inter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keywords/>
  <dc:description>generated using python-pptx</dc:description>
  <cp:lastModifiedBy>Microsoft Office User</cp:lastModifiedBy>
  <cp:revision>5</cp:revision>
  <dcterms:created xsi:type="dcterms:W3CDTF">2013-01-27T09:14:16Z</dcterms:created>
  <dcterms:modified xsi:type="dcterms:W3CDTF">2026-10-24T16:24:19Z</dcterms:modified>
  <cp:category/>
</cp:coreProperties>
</file>